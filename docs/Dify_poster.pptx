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43891200" cy="3291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ar_Poster_Title_Author"/>
          <p:cNvSpPr txBox="1"/>
          <p:nvPr/>
        </p:nvSpPr>
        <p:spPr>
          <a:xfrm>
            <a:off x="0" y="0"/>
            <a:ext cx="43891200" cy="3291840"/>
          </a:xfrm>
          <a:prstGeom prst="rect">
            <a:avLst/>
          </a:prstGeom>
          <a:noFill/>
          <a:ln w="63500">
            <a:solidFill>
              <a:srgbClr val="2F5597"/>
            </a:solidFill>
            <a:prstDash val="solid"/>
          </a:ln>
        </p:spPr>
        <p:txBody>
          <a:bodyPr wrap="square">
            <a:noAutofit/>
          </a:bodyPr>
          <a:lstStyle/>
          <a:p/>
          <a:p>
            <a:pPr algn="l"/>
            <a:r>
              <a:rPr sz="5200" b="0" i="0">
                <a:latin typeface="Arial"/>
              </a:rPr>
              <a:t/>
            </a:r>
          </a:p>
        </p:txBody>
      </p:sp>
      <p:sp>
        <p:nvSpPr>
          <p:cNvPr id="3" name="var_Abstract"/>
          <p:cNvSpPr txBox="1"/>
          <p:nvPr/>
        </p:nvSpPr>
        <p:spPr>
          <a:xfrm>
            <a:off x="0" y="3291840"/>
            <a:ext cx="20631845" cy="7243965"/>
          </a:xfrm>
          <a:prstGeom prst="rect">
            <a:avLst/>
          </a:prstGeom>
          <a:noFill/>
          <a:ln w="63500">
            <a:solidFill>
              <a:srgbClr val="2F5597"/>
            </a:solidFill>
            <a:prstDash val="solid"/>
          </a:ln>
        </p:spPr>
        <p:txBody>
          <a:bodyPr wrap="square">
            <a:noAutofit/>
          </a:bodyPr>
          <a:lstStyle/>
          <a:p/>
          <a:p>
            <a:pPr algn="l"/>
            <a:r>
              <a:rPr sz="5200" b="0" i="0">
                <a:latin typeface="Arial"/>
              </a:rPr>
              <a:t/>
            </a:r>
          </a:p>
        </p:txBody>
      </p:sp>
      <p:sp>
        <p:nvSpPr>
          <p:cNvPr id="4" name="var_Introduction"/>
          <p:cNvSpPr txBox="1"/>
          <p:nvPr/>
        </p:nvSpPr>
        <p:spPr>
          <a:xfrm>
            <a:off x="0" y="10535805"/>
            <a:ext cx="20631845" cy="9358298"/>
          </a:xfrm>
          <a:prstGeom prst="rect">
            <a:avLst/>
          </a:prstGeom>
          <a:noFill/>
          <a:ln w="63500">
            <a:solidFill>
              <a:srgbClr val="2F5597"/>
            </a:solidFill>
            <a:prstDash val="solid"/>
          </a:ln>
        </p:spPr>
        <p:txBody>
          <a:bodyPr wrap="square">
            <a:noAutofit/>
          </a:bodyPr>
          <a:lstStyle/>
          <a:p/>
          <a:p>
            <a:pPr algn="l"/>
            <a:r>
              <a:rPr sz="5200" b="0" i="0">
                <a:latin typeface="Arial"/>
              </a:rPr>
              <a:t/>
            </a:r>
          </a:p>
        </p:txBody>
      </p:sp>
      <p:sp>
        <p:nvSpPr>
          <p:cNvPr id="5" name="var_Method"/>
          <p:cNvSpPr txBox="1"/>
          <p:nvPr/>
        </p:nvSpPr>
        <p:spPr>
          <a:xfrm>
            <a:off x="20631845" y="3291840"/>
            <a:ext cx="23259354" cy="9426423"/>
          </a:xfrm>
          <a:prstGeom prst="rect">
            <a:avLst/>
          </a:prstGeom>
          <a:noFill/>
          <a:ln w="63500">
            <a:solidFill>
              <a:srgbClr val="2F5597"/>
            </a:solidFill>
            <a:prstDash val="solid"/>
          </a:ln>
        </p:spPr>
        <p:txBody>
          <a:bodyPr wrap="square">
            <a:noAutofit/>
          </a:bodyPr>
          <a:lstStyle/>
          <a:p/>
          <a:p>
            <a:pPr algn="l"/>
            <a:r>
              <a:rPr sz="5200" b="0" i="0">
                <a:latin typeface="Arial"/>
              </a:rPr>
              <a:t/>
            </a:r>
          </a:p>
        </p:txBody>
      </p:sp>
      <p:sp>
        <p:nvSpPr>
          <p:cNvPr id="6" name="var_Experiments"/>
          <p:cNvSpPr txBox="1"/>
          <p:nvPr/>
        </p:nvSpPr>
        <p:spPr>
          <a:xfrm>
            <a:off x="20631845" y="12718263"/>
            <a:ext cx="23259354" cy="7175840"/>
          </a:xfrm>
          <a:prstGeom prst="rect">
            <a:avLst/>
          </a:prstGeom>
          <a:noFill/>
          <a:ln w="63500">
            <a:solidFill>
              <a:srgbClr val="2F5597"/>
            </a:solidFill>
            <a:prstDash val="solid"/>
          </a:ln>
        </p:spPr>
        <p:txBody>
          <a:bodyPr wrap="square">
            <a:noAutofit/>
          </a:bodyPr>
          <a:lstStyle/>
          <a:p/>
          <a:p>
            <a:pPr algn="l"/>
            <a:r>
              <a:rPr sz="5200" b="0" i="0">
                <a:latin typeface="Arial"/>
              </a:rPr>
              <a:t/>
            </a:r>
          </a:p>
        </p:txBody>
      </p:sp>
      <p:sp>
        <p:nvSpPr>
          <p:cNvPr id="7" name="var_Results"/>
          <p:cNvSpPr txBox="1"/>
          <p:nvPr/>
        </p:nvSpPr>
        <p:spPr>
          <a:xfrm>
            <a:off x="0" y="19894104"/>
            <a:ext cx="16164252" cy="13024295"/>
          </a:xfrm>
          <a:prstGeom prst="rect">
            <a:avLst/>
          </a:prstGeom>
          <a:noFill/>
          <a:ln w="63500">
            <a:solidFill>
              <a:srgbClr val="2F5597"/>
            </a:solidFill>
            <a:prstDash val="solid"/>
          </a:ln>
        </p:spPr>
        <p:txBody>
          <a:bodyPr wrap="square">
            <a:noAutofit/>
          </a:bodyPr>
          <a:lstStyle/>
          <a:p/>
          <a:p>
            <a:pPr algn="l"/>
            <a:r>
              <a:rPr sz="5200" b="0" i="0">
                <a:latin typeface="Arial"/>
              </a:rPr>
              <a:t/>
            </a:r>
          </a:p>
        </p:txBody>
      </p:sp>
      <p:sp>
        <p:nvSpPr>
          <p:cNvPr id="8" name="var_Ablation"/>
          <p:cNvSpPr txBox="1"/>
          <p:nvPr/>
        </p:nvSpPr>
        <p:spPr>
          <a:xfrm>
            <a:off x="16164252" y="19894104"/>
            <a:ext cx="10805333" cy="13024295"/>
          </a:xfrm>
          <a:prstGeom prst="rect">
            <a:avLst/>
          </a:prstGeom>
          <a:noFill/>
          <a:ln w="63500">
            <a:solidFill>
              <a:srgbClr val="2F5597"/>
            </a:solidFill>
            <a:prstDash val="solid"/>
          </a:ln>
        </p:spPr>
        <p:txBody>
          <a:bodyPr wrap="square">
            <a:noAutofit/>
          </a:bodyPr>
          <a:lstStyle/>
          <a:p/>
          <a:p>
            <a:pPr algn="l"/>
            <a:r>
              <a:rPr sz="5200" b="0" i="0">
                <a:latin typeface="Arial"/>
              </a:rPr>
              <a:t/>
            </a:r>
          </a:p>
        </p:txBody>
      </p:sp>
      <p:sp>
        <p:nvSpPr>
          <p:cNvPr id="9" name="var_Analysis"/>
          <p:cNvSpPr txBox="1"/>
          <p:nvPr/>
        </p:nvSpPr>
        <p:spPr>
          <a:xfrm>
            <a:off x="26969586" y="19894104"/>
            <a:ext cx="16921613" cy="7285524"/>
          </a:xfrm>
          <a:prstGeom prst="rect">
            <a:avLst/>
          </a:prstGeom>
          <a:noFill/>
          <a:ln w="63500">
            <a:solidFill>
              <a:srgbClr val="2F5597"/>
            </a:solidFill>
            <a:prstDash val="solid"/>
          </a:ln>
        </p:spPr>
        <p:txBody>
          <a:bodyPr wrap="square">
            <a:noAutofit/>
          </a:bodyPr>
          <a:lstStyle/>
          <a:p/>
          <a:p>
            <a:pPr algn="l"/>
            <a:r>
              <a:rPr sz="5200" b="0" i="0">
                <a:latin typeface="Arial"/>
              </a:rPr>
              <a:t/>
            </a:r>
          </a:p>
        </p:txBody>
      </p:sp>
      <p:sp>
        <p:nvSpPr>
          <p:cNvPr id="10" name="var_Conclusion"/>
          <p:cNvSpPr txBox="1"/>
          <p:nvPr/>
        </p:nvSpPr>
        <p:spPr>
          <a:xfrm>
            <a:off x="26969586" y="27179628"/>
            <a:ext cx="16921613" cy="5738771"/>
          </a:xfrm>
          <a:prstGeom prst="rect">
            <a:avLst/>
          </a:prstGeom>
          <a:noFill/>
          <a:ln w="63500">
            <a:solidFill>
              <a:srgbClr val="2F5597"/>
            </a:solidFill>
            <a:prstDash val="solid"/>
          </a:ln>
        </p:spPr>
        <p:txBody>
          <a:bodyPr wrap="square">
            <a:noAutofit/>
          </a:bodyPr>
          <a:lstStyle/>
          <a:p/>
          <a:p>
            <a:pPr algn="l"/>
            <a:r>
              <a:rPr sz="5200" b="0" i="0">
                <a:latin typeface="Arial"/>
              </a:rPr>
              <a:t/>
            </a:r>
          </a:p>
        </p:txBody>
      </p:sp>
      <p:sp>
        <p:nvSpPr>
          <p:cNvPr id="11" name="p_Poster_Title_Author__t0"/>
          <p:cNvSpPr txBox="1"/>
          <p:nvPr/>
        </p:nvSpPr>
        <p:spPr>
          <a:xfrm>
            <a:off x="109728" y="109728"/>
            <a:ext cx="43671744" cy="1365504"/>
          </a:xfrm>
          <a:prstGeom prst="rect">
            <a:avLst/>
          </a:prstGeom>
          <a:solidFill>
            <a:srgbClr val="2F5597"/>
          </a:solidFill>
        </p:spPr>
        <p:txBody>
          <a:bodyPr wrap="square">
            <a:noAutofit/>
          </a:bodyPr>
          <a:lstStyle/>
          <a:p/>
          <a:p>
            <a:pPr algn="ctr">
              <a:defRPr sz="6000"/>
            </a:pPr>
            <a:r>
              <a:rPr b="1" i="0">
                <a:solidFill>
                  <a:srgbClr val="FFFFFF"/>
                </a:solidFill>
              </a:rPr>
              <a:t>STREAM3R: SCALABLE SEQUENTIAL 3D RECONSTRUCTION WITH CAUSAL TRANSFORMER</a:t>
            </a:r>
          </a:p>
        </p:txBody>
      </p:sp>
      <p:sp>
        <p:nvSpPr>
          <p:cNvPr id="12" name="p_Poster_Title_Author__t1"/>
          <p:cNvSpPr txBox="1"/>
          <p:nvPr/>
        </p:nvSpPr>
        <p:spPr>
          <a:xfrm>
            <a:off x="109728" y="1475232"/>
            <a:ext cx="43671744" cy="1706879"/>
          </a:xfrm>
          <a:prstGeom prst="rect">
            <a:avLst/>
          </a:prstGeom>
          <a:solidFill>
            <a:srgbClr val="2F5597"/>
          </a:solidFill>
        </p:spPr>
        <p:txBody>
          <a:bodyPr wrap="square">
            <a:noAutofit/>
          </a:bodyPr>
          <a:lstStyle/>
          <a:p/>
          <a:p>
            <a:pPr algn="ctr">
              <a:defRPr sz="3600"/>
            </a:pPr>
            <a:r>
              <a:rPr b="0" i="0">
                <a:solidFill>
                  <a:srgbClr val="FFFFFF"/>
                </a:solidFill>
              </a:rPr>
              <a:t>Yushi Lan¹, Yihang Luo¹, Fangzhou Hong¹, Shangchen Zhou¹, Honghua Chen¹, Zhaoyang Lyu², Shuai Yang³, Bo Dai⁴, Chen Change Loy¹, Xingang Pan¹</a:t>
            </a:r>
          </a:p>
          <a:p>
            <a:pPr algn="ctr">
              <a:defRPr sz="3600"/>
            </a:pPr>
            <a:r>
              <a:rPr b="0" i="0">
                <a:solidFill>
                  <a:srgbClr val="FFFFFF"/>
                </a:solidFill>
              </a:rPr>
              <a:t>¹S-Lab, Nanyang Technological University, Singapore; ²Shanghai Artificial Intelligence Laboratory; ³WICT, Peking University; ⁴The University of Hong Kong</a:t>
            </a:r>
          </a:p>
        </p:txBody>
      </p:sp>
      <p:sp>
        <p:nvSpPr>
          <p:cNvPr id="13" name="p_Abstract__t0"/>
          <p:cNvSpPr txBox="1"/>
          <p:nvPr/>
        </p:nvSpPr>
        <p:spPr>
          <a:xfrm>
            <a:off x="109728" y="3401568"/>
            <a:ext cx="20412389" cy="1170432"/>
          </a:xfrm>
          <a:prstGeom prst="rect">
            <a:avLst/>
          </a:prstGeom>
          <a:solidFill>
            <a:srgbClr val="2F5597"/>
          </a:solidFill>
        </p:spPr>
        <p:txBody>
          <a:bodyPr wrap="square">
            <a:noAutofit/>
          </a:bodyPr>
          <a:lstStyle/>
          <a:p/>
          <a:p>
            <a:pPr algn="l">
              <a:defRPr sz="6000"/>
            </a:pPr>
            <a:r>
              <a:rPr b="1" i="0">
                <a:solidFill>
                  <a:srgbClr val="FFFFFF"/>
                </a:solidFill>
              </a:rPr>
              <a:t>Abstract</a:t>
            </a:r>
          </a:p>
        </p:txBody>
      </p:sp>
      <p:sp>
        <p:nvSpPr>
          <p:cNvPr id="14" name="p_Abstract__t1"/>
          <p:cNvSpPr txBox="1"/>
          <p:nvPr/>
        </p:nvSpPr>
        <p:spPr>
          <a:xfrm>
            <a:off x="109728" y="4572000"/>
            <a:ext cx="20412389" cy="585407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/>
          <a:p>
            <a:pPr algn="l">
              <a:defRPr sz="4800"/>
            </a:pPr>
            <a:r>
              <a:rPr b="0" i="0"/>
              <a:t>•STREAM3R: decoder-only causal Transformer for 3D reconstruction</a:t>
            </a:r>
          </a:p>
          <a:p>
            <a:pPr algn="l">
              <a:defRPr sz="4800"/>
            </a:pPr>
            <a:r>
              <a:rPr b="0" i="0"/>
              <a:t>•Overcomes scalability limits—no global optimization needed</a:t>
            </a:r>
          </a:p>
          <a:p>
            <a:pPr algn="l">
              <a:defRPr sz="4800"/>
            </a:pPr>
            <a:r>
              <a:rPr b="0" i="0"/>
              <a:t>•Learns geometric priors from large-scale 3D data</a:t>
            </a:r>
          </a:p>
          <a:p>
            <a:pPr algn="l">
              <a:defRPr sz="4800"/>
            </a:pPr>
            <a:r>
              <a:rPr b="0" i="0"/>
              <a:t>•SOTA performance across benchmarks; LLM-style training ready</a:t>
            </a:r>
          </a:p>
          <a:p>
            <a:pPr algn="l">
              <a:defRPr sz="4800"/>
            </a:pPr>
            <a:r>
              <a:rPr b="0" i="0"/>
              <a:t>•Enables real-time, online 3D perception in streaming</a:t>
            </a:r>
          </a:p>
        </p:txBody>
      </p:sp>
      <p:sp>
        <p:nvSpPr>
          <p:cNvPr id="15" name="p_Introduction__t0"/>
          <p:cNvSpPr txBox="1"/>
          <p:nvPr/>
        </p:nvSpPr>
        <p:spPr>
          <a:xfrm>
            <a:off x="109728" y="10645533"/>
            <a:ext cx="20412389" cy="1170432"/>
          </a:xfrm>
          <a:prstGeom prst="rect">
            <a:avLst/>
          </a:prstGeom>
          <a:solidFill>
            <a:srgbClr val="2F5597"/>
          </a:solidFill>
        </p:spPr>
        <p:txBody>
          <a:bodyPr wrap="square">
            <a:noAutofit/>
          </a:bodyPr>
          <a:lstStyle/>
          <a:p/>
          <a:p>
            <a:pPr algn="l">
              <a:defRPr sz="6000"/>
            </a:pPr>
            <a:r>
              <a:rPr b="1" i="0">
                <a:solidFill>
                  <a:srgbClr val="FFFFFF"/>
                </a:solidFill>
              </a:rPr>
              <a:t>Introduction</a:t>
            </a:r>
          </a:p>
        </p:txBody>
      </p:sp>
      <p:sp>
        <p:nvSpPr>
          <p:cNvPr id="16" name="p_Introduction__t1"/>
          <p:cNvSpPr txBox="1"/>
          <p:nvPr/>
        </p:nvSpPr>
        <p:spPr>
          <a:xfrm>
            <a:off x="109728" y="11815965"/>
            <a:ext cx="20412389" cy="796841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/>
          <a:p>
            <a:pPr algn="l">
              <a:defRPr sz="4900"/>
            </a:pPr>
            <a:r>
              <a:rPr b="0" i="0"/>
              <a:t>•3D reconstruction is key for autonomous driving, VR, and robotics.</a:t>
            </a:r>
          </a:p>
          <a:p>
            <a:pPr algn="l">
              <a:defRPr sz="4900"/>
            </a:pPr>
            <a:r>
              <a:rPr b="0" i="0"/>
              <a:t>•Traditional SfM/MVS vs. modern transformer methods (DUSt3R, MASt3R, etc.).</a:t>
            </a:r>
          </a:p>
          <a:p>
            <a:pPr algn="l">
              <a:defRPr sz="4900"/>
            </a:pPr>
            <a:r>
              <a:rPr b="0" i="0"/>
              <a:t>•Streaming 3D reconstruction remains challenging due to drift and cost.</a:t>
            </a:r>
          </a:p>
          <a:p>
            <a:pPr algn="l">
              <a:defRPr sz="4900"/>
            </a:pPr>
            <a:r>
              <a:rPr b="0" i="0"/>
              <a:t>•STREAM3R: causal decoder-only transformer for efficient online 3D reconstruction.</a:t>
            </a:r>
          </a:p>
        </p:txBody>
      </p:sp>
      <p:sp>
        <p:nvSpPr>
          <p:cNvPr id="17" name="p_Method__t0"/>
          <p:cNvSpPr txBox="1"/>
          <p:nvPr/>
        </p:nvSpPr>
        <p:spPr>
          <a:xfrm>
            <a:off x="20741573" y="3346704"/>
            <a:ext cx="23039898" cy="1234440"/>
          </a:xfrm>
          <a:prstGeom prst="rect">
            <a:avLst/>
          </a:prstGeom>
          <a:solidFill>
            <a:srgbClr val="2F5597"/>
          </a:solidFill>
        </p:spPr>
        <p:txBody>
          <a:bodyPr wrap="square">
            <a:noAutofit/>
          </a:bodyPr>
          <a:lstStyle/>
          <a:p/>
          <a:p>
            <a:pPr algn="l">
              <a:defRPr sz="6000"/>
            </a:pPr>
            <a:r>
              <a:rPr b="1" i="0">
                <a:solidFill>
                  <a:srgbClr val="FFFFFF"/>
                </a:solidFill>
              </a:rPr>
              <a:t>Method</a:t>
            </a:r>
          </a:p>
        </p:txBody>
      </p:sp>
      <p:sp>
        <p:nvSpPr>
          <p:cNvPr id="18" name="p_Method__t1"/>
          <p:cNvSpPr txBox="1"/>
          <p:nvPr/>
        </p:nvSpPr>
        <p:spPr>
          <a:xfrm>
            <a:off x="20741573" y="10266969"/>
            <a:ext cx="23039898" cy="23415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/>
          <a:p>
            <a:pPr algn="l">
              <a:defRPr sz="2900"/>
            </a:pPr>
            <a:r>
              <a:rPr b="0" i="0"/>
              <a:t>•Causal transformer for streaming 3D reconstruction</a:t>
            </a:r>
          </a:p>
          <a:p>
            <a:pPr algn="l">
              <a:defRPr sz="2900"/>
            </a:pPr>
            <a:r>
              <a:rPr b="0" i="0"/>
              <a:t>•Replaces bidirectional attention with cached history</a:t>
            </a:r>
          </a:p>
          <a:p>
            <a:pPr algn="l">
              <a:defRPr sz="2900"/>
            </a:pPr>
            <a:r>
              <a:rPr b="0" i="0"/>
              <a:t>•Single decoder with frame-wise self- and causal cross-attention</a:t>
            </a:r>
          </a:p>
          <a:p>
            <a:pPr algn="l">
              <a:defRPr sz="2900"/>
            </a:pPr>
            <a:r>
              <a:rPr b="0" i="0"/>
              <a:t>•Learnable [reg] token defines canonical global coordinate system</a:t>
            </a:r>
          </a:p>
        </p:txBody>
      </p:sp>
      <p:sp>
        <p:nvSpPr>
          <p:cNvPr id="19" name="p_Experiments__t0"/>
          <p:cNvSpPr txBox="1"/>
          <p:nvPr/>
        </p:nvSpPr>
        <p:spPr>
          <a:xfrm>
            <a:off x="20741573" y="12827991"/>
            <a:ext cx="23039898" cy="1170432"/>
          </a:xfrm>
          <a:prstGeom prst="rect">
            <a:avLst/>
          </a:prstGeom>
          <a:solidFill>
            <a:srgbClr val="2F5597"/>
          </a:solidFill>
        </p:spPr>
        <p:txBody>
          <a:bodyPr wrap="square">
            <a:noAutofit/>
          </a:bodyPr>
          <a:lstStyle/>
          <a:p/>
          <a:p>
            <a:pPr algn="l">
              <a:defRPr sz="6000"/>
            </a:pPr>
            <a:r>
              <a:rPr b="1" i="0">
                <a:solidFill>
                  <a:srgbClr val="FFFFFF"/>
                </a:solidFill>
              </a:rPr>
              <a:t>Experiments</a:t>
            </a:r>
          </a:p>
        </p:txBody>
      </p:sp>
      <p:sp>
        <p:nvSpPr>
          <p:cNvPr id="20" name="p_Experiments__t1"/>
          <p:cNvSpPr txBox="1"/>
          <p:nvPr/>
        </p:nvSpPr>
        <p:spPr>
          <a:xfrm>
            <a:off x="20741573" y="13998423"/>
            <a:ext cx="23039898" cy="57859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/>
          <a:p>
            <a:pPr algn="l">
              <a:defRPr sz="5200"/>
            </a:pPr>
            <a:r>
              <a:rPr b="0" i="0"/>
              <a:t>•Trained on 12 diverse 3D datasets</a:t>
            </a:r>
          </a:p>
          <a:p>
            <a:pPr algn="l">
              <a:defRPr sz="5200"/>
            </a:pPr>
            <a:r>
              <a:rPr b="0" i="0"/>
              <a:t>•Two variants: STREAM3Rα (DUSt3R-based) and STREAM3Rβ (VGG-T + CausalAttn)</a:t>
            </a:r>
          </a:p>
          <a:p>
            <a:pPr algn="l">
              <a:defRPr sz="5200"/>
            </a:pPr>
            <a:r>
              <a:rPr b="0" i="0"/>
              <a:t>•AdamW, 64 batch, 1e-4 lr, 400K iters, multi-res crops, 8× A100</a:t>
            </a:r>
          </a:p>
          <a:p>
            <a:pPr algn="l">
              <a:defRPr sz="5200"/>
            </a:pPr>
            <a:r>
              <a:rPr b="0" i="0"/>
              <a:t>•Baselines: DUSt3R, MASt3R, Spann3R, CUT3R, SLAM3R, Fast3R, VGG-T</a:t>
            </a:r>
          </a:p>
        </p:txBody>
      </p:sp>
      <p:sp>
        <p:nvSpPr>
          <p:cNvPr id="21" name="p_Results__t0"/>
          <p:cNvSpPr txBox="1"/>
          <p:nvPr/>
        </p:nvSpPr>
        <p:spPr>
          <a:xfrm>
            <a:off x="109728" y="19948968"/>
            <a:ext cx="15944796" cy="1234440"/>
          </a:xfrm>
          <a:prstGeom prst="rect">
            <a:avLst/>
          </a:prstGeom>
          <a:solidFill>
            <a:srgbClr val="2F5597"/>
          </a:solidFill>
        </p:spPr>
        <p:txBody>
          <a:bodyPr wrap="square">
            <a:noAutofit/>
          </a:bodyPr>
          <a:lstStyle/>
          <a:p/>
          <a:p>
            <a:pPr algn="l">
              <a:defRPr sz="6000"/>
            </a:pPr>
            <a:r>
              <a:rPr b="1" i="0">
                <a:solidFill>
                  <a:srgbClr val="FFFFFF"/>
                </a:solidFill>
              </a:rPr>
              <a:t>Results</a:t>
            </a:r>
          </a:p>
        </p:txBody>
      </p:sp>
      <p:sp>
        <p:nvSpPr>
          <p:cNvPr id="22" name="p_Results__t1"/>
          <p:cNvSpPr txBox="1"/>
          <p:nvPr/>
        </p:nvSpPr>
        <p:spPr>
          <a:xfrm>
            <a:off x="109728" y="29099914"/>
            <a:ext cx="15944796" cy="370875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/>
          <a:p>
            <a:pPr algn="l">
              <a:defRPr sz="3400"/>
            </a:pPr>
            <a:r>
              <a:rPr b="0" i="0"/>
              <a:t>•Mono-depth: SOTA streaming method; beats VGG-T on Sintel/KITTI/NYU-v2</a:t>
            </a:r>
          </a:p>
          <a:p>
            <a:pPr algn="l">
              <a:defRPr sz="3400"/>
            </a:pPr>
            <a:r>
              <a:rPr b="0" i="0"/>
              <a:t>•Video depth: Beats DUSt3R-GA, MASt3R-GA, MonST3R-GA, CUT3R (+40% speed)</a:t>
            </a:r>
          </a:p>
          <a:p>
            <a:pPr algn="l">
              <a:defRPr sz="3400"/>
            </a:pPr>
            <a:r>
              <a:rPr b="0" i="0"/>
              <a:t>•3D reconstruction: &gt;50× faster than CUT3R; beats SLAM3R on 7-scenes</a:t>
            </a:r>
          </a:p>
          <a:p>
            <a:pPr algn="l">
              <a:defRPr sz="3400"/>
            </a:pPr>
            <a:r>
              <a:rPr b="0" i="0"/>
              <a:t>•Efficiency: STREAM3Rβ-W[5] enables constant memory with only 5 frames</a:t>
            </a:r>
          </a:p>
        </p:txBody>
      </p:sp>
      <p:sp>
        <p:nvSpPr>
          <p:cNvPr id="23" name="p_Ablation__t0"/>
          <p:cNvSpPr txBox="1"/>
          <p:nvPr/>
        </p:nvSpPr>
        <p:spPr>
          <a:xfrm>
            <a:off x="16273980" y="20003832"/>
            <a:ext cx="10585877" cy="1170432"/>
          </a:xfrm>
          <a:prstGeom prst="rect">
            <a:avLst/>
          </a:prstGeom>
          <a:solidFill>
            <a:srgbClr val="2F5597"/>
          </a:solidFill>
        </p:spPr>
        <p:txBody>
          <a:bodyPr wrap="square">
            <a:noAutofit/>
          </a:bodyPr>
          <a:lstStyle/>
          <a:p/>
          <a:p>
            <a:pPr algn="l">
              <a:defRPr sz="6000"/>
            </a:pPr>
            <a:r>
              <a:rPr b="1" i="0">
                <a:solidFill>
                  <a:srgbClr val="FFFFFF"/>
                </a:solidFill>
              </a:rPr>
              <a:t>Ablation</a:t>
            </a:r>
          </a:p>
        </p:txBody>
      </p:sp>
      <p:sp>
        <p:nvSpPr>
          <p:cNvPr id="24" name="p_Ablation__t1"/>
          <p:cNvSpPr txBox="1"/>
          <p:nvPr/>
        </p:nvSpPr>
        <p:spPr>
          <a:xfrm>
            <a:off x="16273980" y="21174264"/>
            <a:ext cx="10585877" cy="1163440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/>
          <a:p>
            <a:pPr algn="l">
              <a:defRPr sz="5900"/>
            </a:pPr>
            <a:r>
              <a:rPr b="0" i="0"/>
              <a:t>•STREAM3R &amp; CUT3R: same init, hyperparams, compute.</a:t>
            </a:r>
          </a:p>
          <a:p>
            <a:pPr algn="l">
              <a:defRPr sz="5900"/>
            </a:pPr>
            <a:r>
              <a:rPr b="0" i="0"/>
              <a:t>•STREAM3R converges faster—60% more steps/time.</a:t>
            </a:r>
          </a:p>
          <a:p>
            <a:pPr algn="l">
              <a:defRPr sz="5900"/>
            </a:pPr>
            <a:r>
              <a:rPr b="0" i="0"/>
              <a:t>•Headglobal: faster with STREAM3R; Headlocal similar.</a:t>
            </a:r>
          </a:p>
          <a:p>
            <a:pPr algn="l">
              <a:defRPr sz="5900"/>
            </a:pPr>
            <a:r>
              <a:rPr b="0" i="0"/>
              <a:t>•STREAM3R outperforms on depth &amp; 3D at equal iterations.</a:t>
            </a:r>
          </a:p>
        </p:txBody>
      </p:sp>
      <p:sp>
        <p:nvSpPr>
          <p:cNvPr id="25" name="p_Analysis__t0"/>
          <p:cNvSpPr txBox="1"/>
          <p:nvPr/>
        </p:nvSpPr>
        <p:spPr>
          <a:xfrm>
            <a:off x="27079314" y="20003832"/>
            <a:ext cx="16702157" cy="1170432"/>
          </a:xfrm>
          <a:prstGeom prst="rect">
            <a:avLst/>
          </a:prstGeom>
          <a:solidFill>
            <a:srgbClr val="2F5597"/>
          </a:solidFill>
        </p:spPr>
        <p:txBody>
          <a:bodyPr wrap="square">
            <a:noAutofit/>
          </a:bodyPr>
          <a:lstStyle/>
          <a:p/>
          <a:p>
            <a:pPr algn="l">
              <a:defRPr sz="6000"/>
            </a:pPr>
            <a:r>
              <a:rPr b="1" i="0">
                <a:solidFill>
                  <a:srgbClr val="FFFFFF"/>
                </a:solidFill>
              </a:rPr>
              <a:t>Analysis</a:t>
            </a:r>
          </a:p>
        </p:txBody>
      </p:sp>
      <p:sp>
        <p:nvSpPr>
          <p:cNvPr id="26" name="p_Analysis__t1"/>
          <p:cNvSpPr txBox="1"/>
          <p:nvPr/>
        </p:nvSpPr>
        <p:spPr>
          <a:xfrm>
            <a:off x="27079314" y="21174264"/>
            <a:ext cx="16702157" cy="589563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/>
          <a:p>
            <a:pPr algn="l">
              <a:defRPr sz="5200"/>
            </a:pPr>
            <a:r>
              <a:rPr b="0" i="0"/>
              <a:t>•FlashAttention: linear memory; causal KV growth</a:t>
            </a:r>
          </a:p>
          <a:p>
            <a:pPr algn="l">
              <a:defRPr sz="5200"/>
            </a:pPr>
            <a:r>
              <a:rPr b="0" i="0"/>
              <a:t>•STREAM3R-W[5]: sliding window, stable depth</a:t>
            </a:r>
          </a:p>
          <a:p>
            <a:pPr algn="l">
              <a:defRPr sz="5200"/>
            </a:pPr>
            <a:r>
              <a:rPr b="0" i="0"/>
              <a:t>•Robust to degraded first-frame anchors</a:t>
            </a:r>
          </a:p>
          <a:p>
            <a:pPr algn="l">
              <a:defRPr sz="5200"/>
            </a:pPr>
            <a:r>
              <a:rPr b="0" i="0"/>
              <a:t>•7-Scenes: STREAM3R error 0.122→0.223 vs CUT3R 0.335</a:t>
            </a:r>
          </a:p>
        </p:txBody>
      </p:sp>
      <p:sp>
        <p:nvSpPr>
          <p:cNvPr id="27" name="p_Conclusion__t0"/>
          <p:cNvSpPr txBox="1"/>
          <p:nvPr/>
        </p:nvSpPr>
        <p:spPr>
          <a:xfrm>
            <a:off x="27079314" y="27289356"/>
            <a:ext cx="16702157" cy="1170432"/>
          </a:xfrm>
          <a:prstGeom prst="rect">
            <a:avLst/>
          </a:prstGeom>
          <a:solidFill>
            <a:srgbClr val="2F5597"/>
          </a:solidFill>
        </p:spPr>
        <p:txBody>
          <a:bodyPr wrap="square">
            <a:noAutofit/>
          </a:bodyPr>
          <a:lstStyle/>
          <a:p/>
          <a:p>
            <a:pPr algn="l">
              <a:defRPr sz="6000"/>
            </a:pPr>
            <a:r>
              <a:rPr b="1" i="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28" name="p_Conclusion__t1"/>
          <p:cNvSpPr txBox="1"/>
          <p:nvPr/>
        </p:nvSpPr>
        <p:spPr>
          <a:xfrm>
            <a:off x="27079314" y="28459788"/>
            <a:ext cx="16702157" cy="434888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/>
          <a:p>
            <a:pPr algn="l">
              <a:defRPr sz="3900"/>
            </a:pPr>
            <a:r>
              <a:rPr b="0" i="0"/>
              <a:t>•STREAM3R: decoder-only transformer for dense 3D reconstruction.</a:t>
            </a:r>
          </a:p>
          <a:p>
            <a:pPr algn="l">
              <a:defRPr sz="3900"/>
            </a:pPr>
            <a:r>
              <a:rPr b="0" i="0"/>
              <a:t>•Reformulates reconstruction as causal sequential registration.</a:t>
            </a:r>
          </a:p>
          <a:p>
            <a:pPr algn="l">
              <a:defRPr sz="3900"/>
            </a:pPr>
            <a:r>
              <a:rPr b="0" i="0"/>
              <a:t>•Supports dual-coordinate pointmaps and novel-view synthesis.</a:t>
            </a:r>
          </a:p>
          <a:p>
            <a:pPr algn="l">
              <a:defRPr sz="3900"/>
            </a:pPr>
            <a:r>
              <a:rPr b="0" i="0"/>
              <a:t>•Achieves SOTA performance with faster inference.</a:t>
            </a:r>
          </a:p>
          <a:p>
            <a:pPr algn="l">
              <a:defRPr sz="3900"/>
            </a:pPr>
            <a:r>
              <a:rPr b="0" i="0"/>
              <a:t>•Bridges geometry and scalable sequence modeling.</a:t>
            </a:r>
          </a:p>
        </p:txBody>
      </p:sp>
      <p:pic>
        <p:nvPicPr>
          <p:cNvPr id="29" name="fig_2_png" descr="fig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89367" y="4636007"/>
            <a:ext cx="10544310" cy="5521233"/>
          </a:xfrm>
          <a:prstGeom prst="rect">
            <a:avLst/>
          </a:prstGeom>
        </p:spPr>
      </p:pic>
      <p:pic>
        <p:nvPicPr>
          <p:cNvPr id="30" name="fig_3_png" descr="fig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1579" y="21238272"/>
            <a:ext cx="12381094" cy="775191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